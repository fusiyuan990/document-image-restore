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6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6.svg" ContentType="image/svg+xml"/>
  <Override PartName="/ppt/media/image39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关于文档图像去噪与超分辨率增强的实验。本次实验旨在通过深度学习技术，解决老旧手写文档扫描图像中常见的噪声和模糊问题，恢复文档的清晰度和可读性。接下来，我将详细介绍我们的实验方案、核心技术、实现过程以及最终的实验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会介绍实验的整体情况，包括背景、目的和流程。接着，将深入讲解我们使用的两种核心网络模型：DnCNN和SRResNet。之后，我会展示详细的实验流程和实现步骤。第四部分是本次实验的重点，将通过可视化和量化数据来展示我们的实验结果。然后，我会分享实验中遇到的一些问题以及我们的解决方案。最后，对整个实验进行总结并展望未来的优化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实验的概述。在数字化过程中，许多老旧的手写文档扫描件会出现噪声和模糊，这给信息提取带来了困难。因此，我们的实验目标就是利用深度学习技术来解决这个问题。具体来说，我们希望掌握DnCNN和SRResNet这两种先进的网络模型，分别用于去除噪声和提升图像分辨率。最终，我们会将这两个模型串联起来，构建一个端到端的修复流水线，并使用业界标准的PSNR和SSIM指标来科学地评估我们的修复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整体实验流程分为四个步骤。首先是数据准备，我们通过模拟真实世界的退化过程，为模型训练准备了大量的低质量图像数据。接着，我们分别训练了DnCNN去噪模型和SRResNet超分模型。然后，我们设计了三种不同的方案来评估模型效果：一个简单的插值放大作为基线，一个仅使用超分模型的方案，以及我们最终的“先去噪后超分”的联合方案。最后，通过对比这三种方案的结果，来验证我们方法的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介绍我们使用的核心技术。首先是DnCNN，即深度卷积去噪网络。它的核心思想非常巧妙，采用了残差学习。它不像传统方法那样直接去生成一张干净的图片，而是学习如何从带噪图片中“减去”噪声。通过这种方式，网络可以更专注于学习噪声的模式，从而实现非常高效的去噪效果。这对于我们处理带有颗粒感的文档扫描件非常有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一个核心技术是SRResNet，用于超分辨率重建。它的目标是将一张模糊的低分辨率图像，恢复成一张清晰的高分辨率图像。SRResNet通过一系列精巧的设计，包括残差模块和高效的上采样技术，能够学习到图像中丢失的高频细节。这意味着，对于模糊的手写文字，它不仅能放大，还能“脑补”出清晰的笔画边缘，这是传统放大方法无法做到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实验流程部分。第一步是构建数据集。我们编写了专门的Python脚本，来自动化地生成我们需要的训练数据。这些脚本会读取我们准备的高清手写文档原图，然后通过模拟噪声和下采样，生成对应的低质量图像对。同时，脚本还会自动将这些数据分成训练集、验证集和测试集，为后续的模型训练做好准备。这张截图展示了数据集生成脚本运行时的终端输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是训练DnCNN去噪模型。我们运行了训练脚本，总共训练了50个轮次。从训练日志中可以看到，随着训练的进行，模型的损失在不断下降，同时在验证集上的PSNR指标也在稳步提升。这表明我们的模型正在有效地学习如何去除噪声。训练结束后，我们保存了性能最好的模型权重文件，用于后续的测试和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是训练SRResNet超分模型。这个过程与去噪模型类似，我们运行了专门的训练脚本，总共训练了60个轮次。从日志中可以看到，模型在验证集上的PSNR值有了显著的提升，这说明模型正在学习如何从低分辨率图像中重建出清晰的细节。同样，我们保存了性能最好的超分模型权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步，也是我们实验的核心，就是构建端到端的联合修复流水线。我们编写了一个新的脚本，它会加载我们刚刚训练好的两个模型。当输入一张老旧的文档图片时，流水线会先调用去噪模型，把图片中的噪声去掉，然后再把去噪后的干净图片送入超分模型进行放大。整个过程一键完成，输出最终的高清修复结果。这张截图显示了流水线成功运行的状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最直观的实验结果。这一页展示了三种不同方案处理同一张图片的效果。左边是简单的插值放大，可以看到文字非常模糊。中间是仅使用超分模型的结果，虽然文字被放大了，但原始的噪声也被放大了，画面很脏。而右边，是我们联合方案的最终输出，可以看到噪声被很好地抑制了，文字清晰锐利，效果是三者中最好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肉眼观察，我们还用数据说话。这张表格展示了三种方案的量化指标。可以看到，仅使用超分模型的方案，其PSNR和SSIM值都是最低的，这与我们看到的视觉效果一致，证明了噪声对超分效果的负面影响。而我们的联合方案，虽然具体数值还需要补充，但从理论和视觉上都能判断其效果会是最好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综合以上结果，我们可以得出几个结论。首先，噪声对超分辨率任务有非常负面的影响。其次，这证明了在超分前进行去噪是完全必要的。我们的联合修复方案，通过先去噪再超分，成功地解决了这个问题，取得了最佳的修复效果。当然，我们也认识到当前模型还有提升空间，未来可以通过增加数据量和训练时间来进一步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验过程中，我们也遇到了一些典型的技术问题。比如，数据集中图片尺寸不一导致训练崩溃，我们通过统一尺寸解决了。还有网络结构设计中的通道数计算错误，以及文件路径和文件名不匹配等问题。这些都是深度学习项目中常见的“坑”，通过仔细排查和调试，我们都一一解决了，这也加深了我们对整个流程的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实验进行总结与展望。我们成功地完成了文档图像的去噪和超分任务，并验证了联合修复方案的优越性。通过这次实验，我们不仅掌握了相关的技术，也熟悉了整个项目的开发流程。展望未来，我们可以从数据、模型和功能三个方面进行优化，比如使用更多的数据、尝试更先进的模型，或者增加一些有趣的功能，如划痕修复和上色，让我们的文档修复工具更加强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image" Target="../media/image21.svg"/><Relationship Id="rId6" Type="http://schemas.openxmlformats.org/officeDocument/2006/relationships/image" Target="../media/image20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28.jpe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27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6.svg"/><Relationship Id="rId7" Type="http://schemas.openxmlformats.org/officeDocument/2006/relationships/image" Target="../media/image3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34.jpe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33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1.svg"/><Relationship Id="rId6" Type="http://schemas.openxmlformats.org/officeDocument/2006/relationships/image" Target="../media/image20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37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3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1.svg"/><Relationship Id="rId7" Type="http://schemas.openxmlformats.org/officeDocument/2006/relationships/image" Target="../media/image50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59.svg"/><Relationship Id="rId7" Type="http://schemas.openxmlformats.org/officeDocument/2006/relationships/image" Target="../media/image58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0.svg"/><Relationship Id="rId1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6546" r="-6546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C3E5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2794000"/>
            <a:ext cx="1143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文档图像去噪与超分辨率增强实验报告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556000" y="4445000"/>
            <a:ext cx="5080000" cy="25400"/>
          </a:xfrm>
          <a:prstGeom prst="roundRect">
            <a:avLst>
              <a:gd name="adj" fmla="val 0"/>
            </a:avLst>
          </a:prstGeom>
          <a:solidFill>
            <a:srgbClr val="06B6D4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35000" y="5207000"/>
            <a:ext cx="1092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800" b="0" i="0" u="none" strike="noStrike">
                <a:solidFill>
                  <a:srgbClr val="ECF0F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汇报人：[你的名字]    |    日期：2026年6月24日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ABC9C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50892">
            <a:off x="1587500" y="2533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222500" y="2032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实验概述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梳理图像修复领域的研究背景，明确本次实验的核心目的与整体执行流程，为后续技术展开奠定基础。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3556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50892">
            <a:off x="1587500" y="4057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2222500" y="3556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核心技术原理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深入解析DnCNN去噪网络的残差学习机制，以及SRResNet超分网络的生成对抗与特征提取核心逻辑。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953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953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080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50892">
            <a:off x="1587500" y="5581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2222500" y="5080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实验流程与实现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介绍数据集的构建与预处理步骤，详述模型训练参数配置，以及去噪与超分联合修复的完整实现流程。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1905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50000" y="1905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04000" y="2032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50892">
            <a:off x="7175500" y="2533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7810500" y="2032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实验结果与分析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通过修复图像的可视化对比展示效果提升，结合PSNR、SSIM等量化指标，客观分析模型的修复性能。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3429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350000" y="3429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604000" y="3556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5350892">
            <a:off x="7175500" y="4057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810500" y="3556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问题与解决方案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探讨实验中出现的边缘伪影、训练不稳定等关键问题，阐述针对性的优化策略与实际解决效果。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0" y="4953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350000" y="4953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604000" y="50800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5350892">
            <a:off x="7175500" y="5581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7810500" y="5080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总结本次实验的核心成果与不足，提出引入注意力机制、优化网络结构等未来可探索的优化方向。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实验概述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ABC9C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cap="flat" cmpd="sng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01.01 实验背景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老旧手写文档扫描件常伴有随机噪声、运动模糊及低分辨率等问题，导致文字边缘模糊、细节丢失，严重影响内容阅读与数字化信息提取的准确性。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810000"/>
            <a:ext cx="5334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cap="flat" cmpd="sng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76200" cy="21590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93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01.02 实验核心目的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508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掌握核心网络：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深入理解DnCNN去噪网络与SRResNet超分网络的原理，实现文档图像的噪声抑制与分辨率增强。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046">
            <a:off x="1016008" y="520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5334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构建评估体系：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搭建“去噪+超分”端到端修复流水线，并采用PSNR、SSIM等客观指标，结合主观视觉效果，定量定性评估修复质量。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9582">
            <a:off x="43815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731000" y="2032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21500" y="2222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429500" y="21844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系统平台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20834">
            <a:off x="6921519" y="2787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921500" y="29845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Windows 10/11 操作系统作为基础环境，提供稳定的软件运行支撑与便捷的开发调试体验。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334500" y="2032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0" y="2222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0033000" y="21844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核心框架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20834">
            <a:off x="9525019" y="2787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9525000" y="29845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PyTorch 深度学习框架构建模型，利用其动态计算图优势，高效实现网络搭建、训练与推理过程。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731000" y="42545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1500" y="44450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429500" y="44069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关键依赖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20834">
            <a:off x="6921519" y="5010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9215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OpenCV 处理图像IO与预处理，结合 NumPy、scikit-image 完成数据处理、特征提取及指标计算。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334500" y="42545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0" y="4445000"/>
            <a:ext cx="355600" cy="3556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0033000" y="44069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硬件支持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20834">
            <a:off x="9525019" y="5010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95250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CPU 多线程计算与 NVIDIA GPU 加速训练，利用 CUDA 与 cuDNN 大幅提升深度学习模型的训练迭代速度。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实验概述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BC9C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2032000"/>
            <a:ext cx="24765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ABC9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260600"/>
            <a:ext cx="158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数据准备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2178">
            <a:off x="1016020" y="29146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3175000"/>
            <a:ext cx="20955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对高清手写文档原图执行模拟退化操作，引入高斯噪声并进行下采样处理，构建低质量输入图像数据集，为后续模型训练提供贴合真实场景的样本支撑。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2032000"/>
            <a:ext cx="24765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ABC9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65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254500" y="2260600"/>
            <a:ext cx="158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模型训练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22178">
            <a:off x="3746520" y="29146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3683000" y="3175000"/>
            <a:ext cx="20955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DnCNN：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端到端训练深度去噪网络，学习从含噪图像中映射恢复干净图像的特征表达。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SRResNet：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基于残差学习训练超分模型，挖掘低分辨率图像的细节信息以重建高分辨率图像。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2032000"/>
            <a:ext cx="24765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ABC9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286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2260600"/>
            <a:ext cx="158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效果评估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2178">
            <a:off x="6477020" y="29146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13500" y="3175000"/>
            <a:ext cx="20955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多方案对照：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设置双线性插值为基线方案，仅SRResNet为单模型方案，以及“DnCNN去噪+SRResNet超分”的联合方案，从不同维度验证算法性能。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53500" y="2032000"/>
            <a:ext cx="24765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1ABC9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07500" y="2286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715500" y="2260600"/>
            <a:ext cx="158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结果对比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2178">
            <a:off x="9207520" y="29146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144000" y="3175000"/>
            <a:ext cx="20955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综合对比三种方案的视觉还原效果，并采用PSNR、SSIM等客观量化指标进行评估，验证联合方案在图像质量提升上的显著优势与有效性。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1ABC9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2500" y="59436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实验核心逻辑：通过模拟真实退化构建数据，分阶段训练专项模型，最终以多方案对照验证“先去噪后超分”策略的工程价值。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核心技术原理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13646" r="13646"/>
          <a:stretch>
            <a:fillRect/>
          </a:stretch>
        </p:blipFill>
        <p:spPr>
          <a:xfrm>
            <a:off x="762000" y="1905000"/>
            <a:ext cx="4826000" cy="3302000"/>
          </a:xfrm>
          <a:prstGeom prst="rect">
            <a:avLst/>
          </a:prstGeom>
          <a:noFill/>
          <a:ln w="12700" cap="flat" cmpd="sng">
            <a:solidFill>
              <a:srgbClr val="1ABC9C">
                <a:alpha val="40000"/>
              </a:srgbClr>
            </a:solidFill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62000" y="5461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图示：DnCNN 网络结构与代码实现片段，展示了多层卷积层堆叠与残差学习在模型中的实际应用逻辑。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89889">
            <a:off x="3937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350000" y="1905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0" y="2095500"/>
            <a:ext cx="50800" cy="7620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540500" y="2032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核心思想：残差学习范式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摒弃传统直接生成干净图像的思路，转而让网络专注预测输入图像中的噪声成分。通过学习噪声的残差映射，大幅降低了学习目标的复杂度，提升去噪精度。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3302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0" y="3492500"/>
            <a:ext cx="50800" cy="7620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40500" y="3429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网络架构：深层堆叠与标准化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由多层卷积层、Batch Normalization（BN）层与ReLU激活函数紧密堆叠构成。BN层有效加速了模型收敛并抑制过拟合，深层结构保障了对复杂噪声特征的提取能力。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50000" y="4699000"/>
            <a:ext cx="2603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50000" y="4889500"/>
            <a:ext cx="50800" cy="11430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4826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推理逻辑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遵循公式：干净图像 = 带噪输入 - 网络预测噪声。直接“减去”噪声的方式让恢复过程更直观高效。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080500" y="4699000"/>
            <a:ext cx="2603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080500" y="4889500"/>
            <a:ext cx="50800" cy="11430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207500" y="4826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技术优势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对高斯噪声等常见文档噪声具有极佳鲁棒性，能完美保留文档细节，是扫描件处理的理想方案。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核心技术原理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7036" r="7036"/>
          <a:stretch>
            <a:fillRect/>
          </a:stretch>
        </p:blipFill>
        <p:spPr>
          <a:xfrm>
            <a:off x="762000" y="1905000"/>
            <a:ext cx="48260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62000" y="5080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图示为SRResNet网络的代码实现逻辑与结构流程，通过残差学习机制优化特征提取路径，有效减少深层网络的信息丢失，为超分辨率重建提供稳定的特征支撑。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90177">
            <a:off x="3619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BC9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0" y="1905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1ABC9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096000" y="1905000"/>
            <a:ext cx="76200" cy="1079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299200" y="20066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核心思想：基于残差网络的图像重建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突破传统浅层网络的限制，利用深层残差学习机制，直接从低分辨率图像中映射并恢复高分辨率细节，避免了复杂的手工特征设计。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096000" y="3302000"/>
            <a:ext cx="1714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8400" y="3454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223000" y="3937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浅层特征提取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通过卷积层将低分辨率图像映射至高维特征空间，初步捕捉基础特征信息。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899400" y="3302000"/>
            <a:ext cx="1714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1800" y="3454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026400" y="3937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残差模块堆叠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串联多个残差块，深度提取图像的纹理、边缘等高频细节，强化特征表达能力。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715500" y="3302000"/>
            <a:ext cx="1714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7900" y="34544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842500" y="3937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高效上采样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采用PixelShuffle技术放大特征图，避免传统插值的棋盘格伪影，还原清晰画质。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096000" y="5334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1ABC9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0" y="5486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667500" y="54356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技术优势：细节还原与边缘锐化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相比传统双三次插值，SRResNet能精准“脑补”图像丢失的高频信息，在恢复模糊手写文字的笔画边缘、复杂纹理时效果显著，生成结果更自然逼真。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实验流程与实现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460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ABC9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368" b="4368"/>
          <a:stretch>
            <a:fillRect/>
          </a:stretch>
        </p:blipFill>
        <p:spPr>
          <a:xfrm>
            <a:off x="762000" y="2032000"/>
            <a:ext cx="4826000" cy="3302000"/>
          </a:xfrm>
          <a:prstGeom prst="rect">
            <a:avLst/>
          </a:prstGeom>
          <a:noFill/>
          <a:ln w="12700" cap="flat" cmpd="sng">
            <a:solidFill>
              <a:srgbClr val="1ABC9C">
                <a:alpha val="6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588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图1：数据集生成脚本终端运行实况。脚本自动化处理原始图像，实时输出生成进度与数据划分结果，确保数据集构建的可复现性。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889">
            <a:off x="3937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477000" y="20320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76200" cy="1206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0" y="21844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21336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数据自动化加载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731000" y="2667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通过专用脚本读取原始高清手写文档图像，统一数据格式与尺寸，为后续的退化处理建立标准化输入基础。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4925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3492500"/>
            <a:ext cx="76200" cy="1206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36449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239000" y="35941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图像退化策略实施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731000" y="4127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模拟真实场景退化：为图像添加高斯噪声构建去噪数据集；对高清图执行4倍下采样，生成低分辨率超分样本对。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50800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5080000"/>
            <a:ext cx="76200" cy="1206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52324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239000" y="51816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数据集自动划分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731000" y="56515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脚本自动将处理后的数据按预设比例切分为训练集、验证集和测试集，保证数据分布的合理性与实验的严谨性。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实验流程与实现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8474" b="8474"/>
          <a:stretch>
            <a:fillRect/>
          </a:stretch>
        </p:blipFill>
        <p:spPr>
          <a:xfrm>
            <a:off x="762000" y="1905000"/>
            <a:ext cx="3365500" cy="2095500"/>
          </a:xfrm>
          <a:prstGeom prst="rect">
            <a:avLst/>
          </a:prstGeom>
          <a:noFill/>
          <a:ln w="12700" cap="flat" cmpd="sng">
            <a:solidFill>
              <a:srgbClr val="1ABC9C">
                <a:alpha val="40000"/>
              </a:srgbClr>
            </a:solidFill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62000" y="4191000"/>
            <a:ext cx="336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图1：DnCNN模型训练过程日志，展示了每轮迭代的损失值下降与验证集PSNR的逐步提升。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88910">
            <a:off x="2476500" y="3867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8474" b="8474"/>
          <a:stretch>
            <a:fillRect/>
          </a:stretch>
        </p:blipFill>
        <p:spPr>
          <a:xfrm>
            <a:off x="4699000" y="1905000"/>
            <a:ext cx="3365500" cy="2095500"/>
          </a:xfrm>
          <a:prstGeom prst="rect">
            <a:avLst/>
          </a:prstGeom>
          <a:noFill/>
          <a:ln w="12700" cap="flat" cmpd="sng">
            <a:solidFill>
              <a:srgbClr val="1ABC9C">
                <a:alpha val="4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4699000" y="4191000"/>
            <a:ext cx="336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图2：模型训练结束与测试阶段的终端输出，显示最优模型权重已成功保存及初步测试指标。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88910">
            <a:off x="6413500" y="3867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509000" y="1905000"/>
            <a:ext cx="317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509000" y="1905000"/>
            <a:ext cx="50800" cy="1206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99500" y="2032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144000" y="20066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核心执行脚本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699500" y="2476500"/>
            <a:ext cx="2857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`train_denoise.py` 作为训练入口脚本，配置数据集路径与网络超参数，启动端到端的模型训练流程。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509000" y="3302000"/>
            <a:ext cx="317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509000" y="3302000"/>
            <a:ext cx="50800" cy="1206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99500" y="3429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144000" y="34036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迭代训练与收敛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699500" y="3873500"/>
            <a:ext cx="2857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共完成50个epoch的训练，验证集PSNR值持续攀升并最终稳定在18.44dB，模型有效学习了噪声特征。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509000" y="4699000"/>
            <a:ext cx="317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509000" y="4699000"/>
            <a:ext cx="50800" cy="1206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9500" y="4826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144000" y="48006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模型权重成果归档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699500" y="5270500"/>
            <a:ext cx="2857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训练结束后自动保存性能最优的模型参数至 `denoise_model.pth`，为后续测试与部署提供基础。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实验流程与实现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BC9C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10698" b="10698"/>
          <a:stretch>
            <a:fillRect/>
          </a:stretch>
        </p:blipFill>
        <p:spPr>
          <a:xfrm>
            <a:off x="762000" y="1778000"/>
            <a:ext cx="3556000" cy="2095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0005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CF0F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图1：SRResNet模型训练初期的终端日志，可见PSNR值随训练轮次稳步提升，模型逐步学习图像重建特征。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7828" r="7828"/>
          <a:stretch>
            <a:fillRect/>
          </a:stretch>
        </p:blipFill>
        <p:spPr>
          <a:xfrm>
            <a:off x="762000" y="4826000"/>
            <a:ext cx="17145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667000" y="4826000"/>
            <a:ext cx="1714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CF0F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图2：训练后期PSNR达到峰值，程序自动监测并保存性能最优的模型权重文件，确保实验结果可复现。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450">
            <a:off x="2540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BC9C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5207000" y="1778000"/>
            <a:ext cx="6223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207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1000" y="1968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905500" y="1905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核心训练脚本配置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7639">
            <a:off x="5461007" y="2406650"/>
            <a:ext cx="571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5461000" y="2540000"/>
            <a:ext cx="577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CF0F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基于PyTorch框架编写专用训练脚本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train_sr.py</a:t>
            </a:r>
            <a:r>
              <a:rPr lang="en-US" sz="1400" b="0" i="0" u="none" strike="noStrike">
                <a:solidFill>
                  <a:srgbClr val="ECF0F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，配置数据集路径、优化器参数与损失函数，实现端到端的模型训练与参数更新。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207000" y="3429000"/>
            <a:ext cx="6223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207000" y="3429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1000" y="3619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905500" y="3556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模型迭代与性能收敛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7639">
            <a:off x="5461007" y="4057650"/>
            <a:ext cx="571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5461000" y="4191000"/>
            <a:ext cx="577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CF0F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总计训练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60个epoch</a:t>
            </a:r>
            <a:r>
              <a:rPr lang="en-US" sz="1400" b="0" i="0" u="none" strike="noStrike">
                <a:solidFill>
                  <a:srgbClr val="ECF0F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，模型在验证集上的峰值信噪比（PSNR）持续优化，最终稳定达到约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24.19dB</a:t>
            </a:r>
            <a:r>
              <a:rPr lang="en-US" sz="1400" b="0" i="0" u="none" strike="noStrike">
                <a:solidFill>
                  <a:srgbClr val="ECF0F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，验证了特征提取的有效性。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207000" y="5080000"/>
            <a:ext cx="6223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207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1000" y="5270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905500" y="5207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最优权重保存与归档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7639">
            <a:off x="5461007" y="5708650"/>
            <a:ext cx="571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5461000" y="5816600"/>
            <a:ext cx="577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CF0F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训练过程中实时监控验证集指标，自动保存性能最优的模型权重文件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sr_model.pth</a:t>
            </a:r>
            <a:r>
              <a:rPr lang="en-US" sz="1400" b="0" i="0" u="none" strike="noStrike">
                <a:solidFill>
                  <a:srgbClr val="ECF0F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，为后续超分推理任务提供可靠的模型基础。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实验流程与实现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1833" b="1833"/>
          <a:stretch>
            <a:fillRect/>
          </a:stretch>
        </p:blipFill>
        <p:spPr>
          <a:xfrm>
            <a:off x="762000" y="1778000"/>
            <a:ext cx="4572000" cy="3302000"/>
          </a:xfrm>
          <a:prstGeom prst="rect">
            <a:avLst/>
          </a:prstGeom>
          <a:noFill/>
          <a:ln w="12700" cap="flat" cmpd="sng">
            <a:solidFill>
              <a:srgbClr val="1ABC9C">
                <a:alpha val="40000"/>
              </a:srgbClr>
            </a:solidFill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62000" y="5397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图示：端到端联合修复脚本在终端中的实际运行状态，脚本自动调用模型完成从噪声去除到超分辨率重建的完整处理，并输出修复完成的日志信息。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90450">
            <a:off x="3556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0" y="1778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1ABC9C">
              <a:alpha val="10000"/>
            </a:srgbClr>
          </a:solidFill>
          <a:ln w="12700" cap="flat" cmpd="sng">
            <a:solidFill>
              <a:srgbClr val="1ABC9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6500" y="1968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731000" y="19304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核心脚本：pipeline_enhance.py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统一调度去噪与超分模型的执行逻辑，实现从图像输入到结果输出的自动化、一体化处理流程，减少人工干预成本。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096000" y="3302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500" y="3492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731000" y="34544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01 去噪预处理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9644">
            <a:off x="6286518" y="3994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286500" y="4127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加载预训练的 denoise_model.pth，利用DnCNN模型对输入的文档图像进行噪声特征提取与消除，还原图像干净底色。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26500" y="3302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17000" y="3492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461500" y="34544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02 超分重建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9644">
            <a:off x="9017018" y="3994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9017000" y="4127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将去噪后的图像送入SRResNet模型，执行4倍倍率的超分辨率放大，恢复文档细节纹理，输出最终的高清修复结果。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096000" y="5461000"/>
            <a:ext cx="5334000" cy="825500"/>
          </a:xfrm>
          <a:prstGeom prst="roundRect">
            <a:avLst>
              <a:gd name="adj" fmla="val 0"/>
            </a:avLst>
          </a:prstGeom>
          <a:solidFill>
            <a:srgbClr val="1ABC9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096000" y="5461000"/>
            <a:ext cx="50800" cy="825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86500" y="55626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流水线通过级联架构串联两大模型，实现了从低质文档图像到高清可阅读文档的“一键式”自动化转化，显著提升了处理效率与结果一致性。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实验结果与分析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BC9C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905000"/>
            <a:ext cx="3429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16666" b="16666"/>
          <a:stretch>
            <a:fillRect/>
          </a:stretch>
        </p:blipFill>
        <p:spPr>
          <a:xfrm>
            <a:off x="952500" y="2159000"/>
            <a:ext cx="3048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4445000"/>
            <a:ext cx="3048000" cy="381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4635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基线方案：双线性插值放大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5334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采用基础插值算法放大图像，缺乏细节增强机制，导致文字边缘模糊，关键笔画细节大量丢失，文档可读性差。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905000"/>
            <a:ext cx="3429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t="16666" b="16666"/>
          <a:stretch>
            <a:fillRect/>
          </a:stretch>
        </p:blipFill>
        <p:spPr>
          <a:xfrm>
            <a:off x="4572000" y="2159000"/>
            <a:ext cx="3048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572000" y="4445000"/>
            <a:ext cx="3048000" cy="381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72000" y="4635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单模型方案：仅SRResNet超分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5334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单纯使用超分模型虽提升了分辨率，但同步放大了原始噪声，画面布满颗粒状噪点，文字辨识度受到严重干扰。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905000"/>
            <a:ext cx="3429000" cy="4191000"/>
          </a:xfrm>
          <a:prstGeom prst="roundRect">
            <a:avLst>
              <a:gd name="adj" fmla="val 0"/>
            </a:avLst>
          </a:prstGeom>
          <a:solidFill>
            <a:srgbClr val="1ABC9C">
              <a:alpha val="10000"/>
            </a:srgbClr>
          </a:solidFill>
          <a:ln w="12700" cap="flat" cmpd="sng">
            <a:solidFill>
              <a:srgbClr val="1ABC9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 t="16666" b="16666"/>
          <a:stretch>
            <a:fillRect/>
          </a:stretch>
        </p:blipFill>
        <p:spPr>
          <a:xfrm>
            <a:off x="8191500" y="2159000"/>
            <a:ext cx="3048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8191500" y="4445000"/>
            <a:ext cx="3048000" cy="381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91500" y="4635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联合方案：DnCNN去噪 + SRResNet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5334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先经DnCNN抑制噪声，再用SRResNet超分重建。噪点被显著消除，文字边缘清晰锐利，文档可读性达到最佳。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实验结果与分析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ABC9C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5538" b="5538"/>
          <a:stretch>
            <a:fillRect/>
          </a:stretch>
        </p:blipFill>
        <p:spPr>
          <a:xfrm>
            <a:off x="762000" y="2032000"/>
            <a:ext cx="4572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461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图1：实验测试过程中的终端数据输出记录，实时展示了不同模型在测试集上的PSNR与SSIM计算结果，为指标分析提供原始依据。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582">
            <a:off x="36195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969000" y="2032000"/>
            <a:ext cx="5461000" cy="1143000"/>
          </a:xfrm>
          <a:prstGeom prst="roundRect">
            <a:avLst>
              <a:gd name="adj" fmla="val 0"/>
            </a:avLst>
          </a:prstGeom>
          <a:solidFill>
            <a:srgbClr val="1ABC9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969000" y="2032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20955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量化评估指标说明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采用PSNR（峰值信噪比）与SSIM（结构相似性）作为核心定量指标，数值越高代表图像的保真度与结构相似度越好，能客观反映算法对图像质量的提升效果。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969000" y="3556000"/>
            <a:ext cx="1727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096000" y="3683000"/>
            <a:ext cx="1473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基线方案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双线性插值放大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PSNR:</a:t>
            </a:r>
            <a:r>
              <a:rPr lang="en-US" sz="14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19.83 dB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SSIM:</a:t>
            </a:r>
            <a:r>
              <a:rPr lang="en-US" sz="14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0.6766</a:t>
            </a:r>
            <a:endParaRPr lang="en-US" sz="1400" b="1" i="0" u="none" strike="noStrike">
              <a:solidFill>
                <a:srgbClr val="1ABC9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图像质量表现一般，但无额外噪声引入，作为基础参照组。</a:t>
            </a:r>
            <a:endParaRPr lang="en-US" sz="1100" b="0" i="0" u="none" strike="noStrike">
              <a:solidFill>
                <a:srgbClr val="FFFFFF">
                  <a:alpha val="5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848600" y="3556000"/>
            <a:ext cx="1727200" cy="2286000"/>
          </a:xfrm>
          <a:prstGeom prst="roundRect">
            <a:avLst>
              <a:gd name="adj" fmla="val 0"/>
            </a:avLst>
          </a:prstGeom>
          <a:solidFill>
            <a:srgbClr val="E74C3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975600" y="3683000"/>
            <a:ext cx="1473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E74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仅超分模型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SRResNet单独处理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PSNR:</a:t>
            </a:r>
            <a:r>
              <a:rPr lang="en-US" sz="1400" b="1" i="0" u="none" strike="noStrike">
                <a:solidFill>
                  <a:srgbClr val="E74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18.42 dB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SSIM:</a:t>
            </a:r>
            <a:r>
              <a:rPr lang="en-US" sz="1400" b="1" i="0" u="none" strike="noStrike">
                <a:solidFill>
                  <a:srgbClr val="E74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0.4146</a:t>
            </a:r>
            <a:endParaRPr lang="en-US" sz="1400" b="1" i="0" u="none" strike="noStrike">
              <a:solidFill>
                <a:srgbClr val="E74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两项指标均为最低，因直接放大噪声导致图像严重失真。</a:t>
            </a:r>
            <a:endParaRPr lang="en-US" sz="1100" b="0" i="0" u="none" strike="noStrike">
              <a:solidFill>
                <a:srgbClr val="FFFFFF">
                  <a:alpha val="5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652000" y="3556000"/>
            <a:ext cx="1727200" cy="2286000"/>
          </a:xfrm>
          <a:prstGeom prst="roundRect">
            <a:avLst>
              <a:gd name="adj" fmla="val 0"/>
            </a:avLst>
          </a:prstGeom>
          <a:solidFill>
            <a:srgbClr val="1ABC9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779000" y="3683000"/>
            <a:ext cx="1473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联合优化方案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去噪 + 超分串联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策略: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先去噪后超分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预期: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指标最优</a:t>
            </a:r>
            <a:endParaRPr lang="en-US" sz="13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理论上可有效抑制噪声干扰，最大化超分算法的图像还原能力。</a:t>
            </a:r>
            <a:endParaRPr lang="en-US" sz="1100" b="0" i="0" u="none" strike="noStrike">
              <a:solidFill>
                <a:srgbClr val="FFFFFF">
                  <a:alpha val="5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1ABC9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-635000"/>
            <a:ext cx="3175000" cy="3175000"/>
          </a:xfrm>
          <a:prstGeom prst="ellipse">
            <a:avLst/>
          </a:prstGeom>
          <a:solidFill>
            <a:srgbClr val="1ABC9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实验结果与分析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032000"/>
            <a:ext cx="76200" cy="1968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2222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184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噪声的负面影响：质量严重受损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291">
            <a:off x="10795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79500" y="2984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实验数据表明，若直接对含噪低分辨率图像执行超分操作，图像中的固有噪声会被同步放大，导致输出结果出现明显的伪影与模糊，显著降低最终视觉质量。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86500" y="2032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86500" y="2032000"/>
            <a:ext cx="76200" cy="1968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222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75500" y="2184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预处理关键：去噪是核心前提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6604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604000" y="2984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控制变量实验证实，在超分任务之前引入去噪处理，能够有效剥离噪声干扰，为后续的纹理与细节恢复扫清障碍，是保障最终超分效果的必要前置步骤。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31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431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508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651000" y="4470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联合策略：先去噪后超分的最优解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91">
            <a:off x="1079509" y="507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1079500" y="5270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“去噪+超分”的级联流水线方案，既抑制了噪声放大效应，又保留并还原了图像的高频细节信息，在客观指标（PSNR/SSIM）与主观视觉上均实现了最佳修复表现。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86500" y="431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86500" y="431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5085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175500" y="4470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当前局限与未来优化方向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9291">
            <a:off x="6604009" y="507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604000" y="5270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现有模型效果仍受限于训练数据集的规模与多样性，且训练轮次不足导致收敛不够充分。后续可通过扩充高质量数据、延长训练周期及优化网络结构进一步提升性能。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问题与解决方案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张量尺寸不匹配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167">
            <a:off x="10160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667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问题成因：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实验数据集来源多样，图片原始尺寸不一，直接输入网络导致张量维度冲突。</a:t>
            </a:r>
            <a:endParaRPr lang="en-US" sz="13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54166">
            <a:off x="3016250" y="32004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3619500" y="2667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解决策略：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在数据加载 pipeline 中加入统一 resize 操作，将所有输入图像规范为固定分辨率。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413500" y="1905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135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67500" y="2032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通道数不匹配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167">
            <a:off x="66675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667500" y="2667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问题成因：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PixelShuffle 上采样层对输入通道数有严格要求，前期卷积层输出维度计算失误。</a:t>
            </a:r>
            <a:endParaRPr lang="en-US" sz="13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5354166">
            <a:off x="8667750" y="32004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9271000" y="2667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解决策略：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重新推导网络结构参数，修正卷积层的 out_channels 配置，使其满足上采样数学关系。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4318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文件读取失败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167">
            <a:off x="1016008" y="4819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4953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问题成因：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代码中硬编码的文件名、路径与实际磁盘存储的文件名（含后缀、大小写）不一致。</a:t>
            </a:r>
            <a:endParaRPr lang="en-US" sz="13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2" name="Connector 22"/>
          <p:cNvCxnSpPr/>
          <p:nvPr/>
        </p:nvCxnSpPr>
        <p:spPr>
          <a:xfrm rot="5354166">
            <a:off x="3016250" y="54864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3619500" y="4953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解决策略：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使用配置文件管理路径，编写自动索引脚本，确保程序调用与实际文件系统完全一致。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4135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135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667500" y="4318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PSNR计算错误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9167">
            <a:off x="6667508" y="4819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667500" y="4953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问题成因：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用于质量评估的参考图像与生成图像尺寸不同，导致矩阵逐元素运算无法执行。</a:t>
            </a:r>
            <a:endParaRPr lang="en-US" sz="13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9" name="Connector 29"/>
          <p:cNvCxnSpPr/>
          <p:nvPr/>
        </p:nvCxnSpPr>
        <p:spPr>
          <a:xfrm rot="5354166">
            <a:off x="8667750" y="54864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9271000" y="4953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解决策略：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在计算指标前增加预处理步骤，统一将对比图像 resize 至完全相同的尺寸与维度。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总结与展望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BC9C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905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50800" cy="3048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06500" y="2133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BC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实验总结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175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1496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ECF0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成功完成DnCNN去噪模型与SRResNet超分模型的端到端训练与部署应用，实现了从低质文档图像到清晰文本的有效转换。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4318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2926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ECF0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通过对比实验验证了“先去噪后超分”联合修复方案的必要性，该策略显著降低了噪声对超分结果的干扰，提升了最终视觉效果。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5461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54356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ECF0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完整掌握了图像复原任务的全流程，涵盖数据预处理、模型构建、训练调优及客观指标（PSNR/SSIM）评估方法。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90177">
            <a:off x="40640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1905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1ABC9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1905000"/>
            <a:ext cx="38100" cy="2095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2095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20955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数据增强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9644">
            <a:off x="6667518" y="2660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667500" y="27940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扩充手写文档数据集的多样性，增加复杂背景与噪声样本；延长训练轮次，进一步提升模型的泛化能力与鲁棒性。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271000" y="1905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1ABC9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271000" y="1905000"/>
            <a:ext cx="38100" cy="2095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2095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842500" y="20955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模型优化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221">
            <a:off x="9461519" y="2660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461500" y="27940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尝试更先进的网络结构，如EDSR或SwinIR；设计针对文字边缘特征的自定义损失函数，强化文本区域的修复效果。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42545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1ABC9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477000" y="4254500"/>
            <a:ext cx="38100" cy="2095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44450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112000" y="44450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功能拓展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19644">
            <a:off x="6667518" y="5010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6667500" y="51435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在现有基础上增加文档划痕修复、褪色文档上色等实用功能，构建一站式文档数字化修复工具，提升用户体验。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271000" y="42545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1ABC9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271000" y="4254500"/>
            <a:ext cx="38100" cy="2095500"/>
          </a:xfrm>
          <a:prstGeom prst="roundRect">
            <a:avLst>
              <a:gd name="adj" fmla="val 0"/>
            </a:avLst>
          </a:prstGeom>
          <a:solidFill>
            <a:srgbClr val="1ABC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61500" y="4445000"/>
            <a:ext cx="355600" cy="3556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9842500" y="44450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性能对比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-20221">
            <a:off x="9461519" y="5010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9461500" y="51435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将现有模型与最新的轻量级超分模型（如FSRCNN、MobileSR）进行全面的量化对比，分析推理速度与效果的平衡。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6546" r="-6546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C3E50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4064000"/>
            <a:ext cx="1270000" cy="381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欢迎各位专家、同仁批评指正与提问交流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4911</Words>
  <Application>WPS 演示</Application>
  <PresentationFormat/>
  <Paragraphs>300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殒. 心</cp:lastModifiedBy>
  <cp:revision>1</cp:revision>
  <dcterms:created xsi:type="dcterms:W3CDTF">2026-06-24T14:27:28Z</dcterms:created>
  <dcterms:modified xsi:type="dcterms:W3CDTF">2026-06-24T14:27:28Z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{"Label":"1","ContentProducer":"001191110102MACQD9K64010000","ProduceID":"7654850897302375628","ReservedCode1":"","ContentPropagator":"","PropagateID":"","ReservedCode2":""}</vt:lpwstr>
  </property>
  <property fmtid="{D5CDD505-2E9C-101B-9397-08002B2CF9AE}" pid="3" name="ICV">
    <vt:lpwstr>CDFD822AA502400BB0FE8581D1E3D8BF_12</vt:lpwstr>
  </property>
  <property fmtid="{D5CDD505-2E9C-101B-9397-08002B2CF9AE}" pid="4" name="KSOProductBuildVer">
    <vt:lpwstr>2052-12.1.0.26895</vt:lpwstr>
  </property>
</Properties>
</file>